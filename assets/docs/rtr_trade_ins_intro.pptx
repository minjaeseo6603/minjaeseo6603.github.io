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8109a9e88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8109a9e8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8109a9e88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8109a9e88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8109a9e88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8109a9e88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8109a9e88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8109a9e88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8109a9e88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8109a9e88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311700" y="292300"/>
            <a:ext cx="8520600" cy="72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Understanding the Role of Trade-Ins in Durable Goods Markets: Theory and Evidence</a:t>
            </a:r>
            <a:endParaRPr sz="2020"/>
          </a:p>
        </p:txBody>
      </p:sp>
      <p:sp>
        <p:nvSpPr>
          <p:cNvPr id="55" name="Google Shape;55;p1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Our paper expands on extant work in several ways. First we use infinite period model structure and a stationary equilibrium concept accompanying it. This help us </a:t>
            </a:r>
            <a:r>
              <a:rPr lang="en" u="sng"/>
              <a:t>reveal the unique role trade-ins as a device to mitigate the lemon problem</a:t>
            </a:r>
            <a:r>
              <a:rPr lang="en"/>
              <a:t>. Second, our model </a:t>
            </a:r>
            <a:r>
              <a:rPr lang="en" u="sng"/>
              <a:t>accommodates</a:t>
            </a:r>
            <a:r>
              <a:rPr lang="en" u="sng"/>
              <a:t> the cannibalization arising from the coexistence of new and used goods markets</a:t>
            </a:r>
            <a:r>
              <a:rPr lang="en"/>
              <a:t>, as well as </a:t>
            </a:r>
            <a:r>
              <a:rPr lang="en" u="sng"/>
              <a:t>customer heterogeneity and information asymmetry</a:t>
            </a:r>
            <a:r>
              <a:rPr lang="en"/>
              <a:t>. Finally, we offer empirical evidence about trade-ins by testing a number of refutable predictions from our model.</a:t>
            </a:r>
            <a:endParaRPr/>
          </a:p>
          <a:p>
            <a:pPr indent="0" lvl="0" marL="0" rtl="0" algn="l">
              <a:spcBef>
                <a:spcPts val="1200"/>
              </a:spcBef>
              <a:spcAft>
                <a:spcPts val="120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Sources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CES panel from The Bureau of Labor Statistics </a:t>
            </a:r>
            <a:r>
              <a:rPr b="1" lang="en"/>
              <a:t>(Consumer Price Index)</a:t>
            </a:r>
            <a:endParaRPr b="1"/>
          </a:p>
          <a:p>
            <a:pPr indent="-317500" lvl="1" marL="914400" rtl="0" algn="l">
              <a:spcBef>
                <a:spcPts val="0"/>
              </a:spcBef>
              <a:spcAft>
                <a:spcPts val="0"/>
              </a:spcAft>
              <a:buSzPts val="1400"/>
              <a:buAutoNum type="alphaLcPeriod"/>
            </a:pPr>
            <a:r>
              <a:rPr lang="en"/>
              <a:t>Each CES observation in the automobile ownership section of the survey includes information about the brand, model year, purchase year and month, and various household demographic variables. The make model of any vehicle traded-in is also recorded, along with its odometer reading and other trim-level details.</a:t>
            </a:r>
            <a:endParaRPr/>
          </a:p>
          <a:p>
            <a:pPr indent="-342900" lvl="0" marL="457200" rtl="0" algn="l">
              <a:spcBef>
                <a:spcPts val="0"/>
              </a:spcBef>
              <a:spcAft>
                <a:spcPts val="0"/>
              </a:spcAft>
              <a:buSzPts val="1800"/>
              <a:buAutoNum type="arabicPeriod"/>
            </a:pPr>
            <a:r>
              <a:rPr lang="en"/>
              <a:t>Annul issues of KBB </a:t>
            </a:r>
            <a:r>
              <a:rPr b="1" lang="en"/>
              <a:t>(Benchmark resale prices, deterioration measure)</a:t>
            </a:r>
            <a:endParaRPr b="1"/>
          </a:p>
          <a:p>
            <a:pPr indent="-317500" lvl="1" marL="914400" rtl="0" algn="l">
              <a:spcBef>
                <a:spcPts val="0"/>
              </a:spcBef>
              <a:spcAft>
                <a:spcPts val="0"/>
              </a:spcAft>
              <a:buSzPts val="1400"/>
              <a:buAutoNum type="alphaLcPeriod"/>
            </a:pPr>
            <a:r>
              <a:rPr lang="en"/>
              <a:t>A syndicated data source that assembles price information for various models and vintages of automobiles derived from auctions and other dealer-dealer transaction.</a:t>
            </a:r>
            <a:endParaRPr/>
          </a:p>
          <a:p>
            <a:pPr indent="-342900" lvl="0" marL="457200" rtl="0" algn="l">
              <a:spcBef>
                <a:spcPts val="0"/>
              </a:spcBef>
              <a:spcAft>
                <a:spcPts val="0"/>
              </a:spcAft>
              <a:buSzPts val="1800"/>
              <a:buAutoNum type="arabicPeriod"/>
            </a:pPr>
            <a:r>
              <a:rPr lang="en"/>
              <a:t>Annul issues of Consumer Reports </a:t>
            </a:r>
            <a:r>
              <a:rPr b="1" lang="en"/>
              <a:t>(Vehicle reliability measure)</a:t>
            </a:r>
            <a:endParaRPr b="1"/>
          </a:p>
          <a:p>
            <a:pPr indent="-317500" lvl="1" marL="914400" rtl="0" algn="l">
              <a:spcBef>
                <a:spcPts val="0"/>
              </a:spcBef>
              <a:spcAft>
                <a:spcPts val="0"/>
              </a:spcAft>
              <a:buSzPts val="1400"/>
              <a:buAutoNum type="alphaLcPeriod"/>
            </a:pPr>
            <a:r>
              <a:rPr lang="en"/>
              <a:t>A well-respected magazine that collects and publishes a variety of performance and reliability information on a variety of </a:t>
            </a:r>
            <a:r>
              <a:rPr lang="en"/>
              <a:t>consumer</a:t>
            </a:r>
            <a:r>
              <a:rPr lang="en"/>
              <a:t> products.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Measures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Net Price Paid</a:t>
            </a:r>
            <a:endParaRPr/>
          </a:p>
          <a:p>
            <a:pPr indent="-342900" lvl="0" marL="457200" rtl="0" algn="l">
              <a:spcBef>
                <a:spcPts val="0"/>
              </a:spcBef>
              <a:spcAft>
                <a:spcPts val="0"/>
              </a:spcAft>
              <a:buSzPts val="1800"/>
              <a:buChar char="●"/>
            </a:pPr>
            <a:r>
              <a:rPr lang="en"/>
              <a:t>Reliability</a:t>
            </a:r>
            <a:endParaRPr/>
          </a:p>
          <a:p>
            <a:pPr indent="-342900" lvl="0" marL="457200" rtl="0" algn="l">
              <a:spcBef>
                <a:spcPts val="0"/>
              </a:spcBef>
              <a:spcAft>
                <a:spcPts val="0"/>
              </a:spcAft>
              <a:buSzPts val="1800"/>
              <a:buChar char="●"/>
            </a:pPr>
            <a:r>
              <a:rPr lang="en"/>
              <a:t>Deterioration</a:t>
            </a:r>
            <a:endParaRPr/>
          </a:p>
          <a:p>
            <a:pPr indent="-342900" lvl="0" marL="457200" rtl="0" algn="l">
              <a:spcBef>
                <a:spcPts val="0"/>
              </a:spcBef>
              <a:spcAft>
                <a:spcPts val="0"/>
              </a:spcAft>
              <a:buSzPts val="1800"/>
              <a:buChar char="●"/>
            </a:pPr>
            <a:r>
              <a:rPr lang="en"/>
              <a:t>Volume of Used Good Trade (VOT)</a:t>
            </a:r>
            <a:endParaRPr/>
          </a:p>
          <a:p>
            <a:pPr indent="-342900" lvl="0" marL="457200" rtl="0" algn="l">
              <a:spcBef>
                <a:spcPts val="0"/>
              </a:spcBef>
              <a:spcAft>
                <a:spcPts val="0"/>
              </a:spcAft>
              <a:buSzPts val="1800"/>
              <a:buChar char="●"/>
            </a:pPr>
            <a:r>
              <a:rPr lang="en"/>
              <a:t>Vehicle Characteristics</a:t>
            </a:r>
            <a:endParaRPr/>
          </a:p>
          <a:p>
            <a:pPr indent="-342900" lvl="0" marL="457200" rtl="0" algn="l">
              <a:spcBef>
                <a:spcPts val="0"/>
              </a:spcBef>
              <a:spcAft>
                <a:spcPts val="0"/>
              </a:spcAft>
              <a:buSzPts val="1800"/>
              <a:buChar char="●"/>
            </a:pPr>
            <a:r>
              <a:rPr lang="en"/>
              <a:t>Household Characteristics</a:t>
            </a:r>
            <a:endParaRPr/>
          </a:p>
          <a:p>
            <a:pPr indent="-342900" lvl="0" marL="457200" rtl="0" algn="l">
              <a:spcBef>
                <a:spcPts val="0"/>
              </a:spcBef>
              <a:spcAft>
                <a:spcPts val="0"/>
              </a:spcAft>
              <a:buSzPts val="1800"/>
              <a:buChar char="●"/>
            </a:pPr>
            <a:r>
              <a:rPr lang="en"/>
              <a:t>Year Dummies</a:t>
            </a:r>
            <a:endParaRPr/>
          </a:p>
          <a:p>
            <a:pPr indent="-342900" lvl="0" marL="457200" rtl="0" algn="l">
              <a:spcBef>
                <a:spcPts val="0"/>
              </a:spcBef>
              <a:spcAft>
                <a:spcPts val="0"/>
              </a:spcAft>
              <a:buSzPts val="1800"/>
              <a:buChar char="●"/>
            </a:pPr>
            <a:r>
              <a:rPr lang="en"/>
              <a:t>Quarter Dummies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pic>
        <p:nvPicPr>
          <p:cNvPr id="72" name="Google Shape;72;p16"/>
          <p:cNvPicPr preferRelativeResize="0"/>
          <p:nvPr/>
        </p:nvPicPr>
        <p:blipFill>
          <a:blip r:embed="rId3">
            <a:alphaModFix/>
          </a:blip>
          <a:stretch>
            <a:fillRect/>
          </a:stretch>
        </p:blipFill>
        <p:spPr>
          <a:xfrm>
            <a:off x="4812250" y="76200"/>
            <a:ext cx="3334620" cy="4991101"/>
          </a:xfrm>
          <a:prstGeom prst="rect">
            <a:avLst/>
          </a:prstGeom>
          <a:noFill/>
          <a:ln>
            <a:noFill/>
          </a:ln>
        </p:spPr>
      </p:pic>
      <p:pic>
        <p:nvPicPr>
          <p:cNvPr id="73" name="Google Shape;73;p16"/>
          <p:cNvPicPr preferRelativeResize="0"/>
          <p:nvPr/>
        </p:nvPicPr>
        <p:blipFill>
          <a:blip r:embed="rId4">
            <a:alphaModFix/>
          </a:blip>
          <a:stretch>
            <a:fillRect/>
          </a:stretch>
        </p:blipFill>
        <p:spPr>
          <a:xfrm>
            <a:off x="225550" y="1158375"/>
            <a:ext cx="4346450" cy="3036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t>
            </a:r>
            <a:r>
              <a:rPr lang="en"/>
              <a:t>esults </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An increase in reliability leads to a fall in the trade-in incentive</a:t>
            </a:r>
            <a:endParaRPr/>
          </a:p>
          <a:p>
            <a:pPr indent="-342900" lvl="0" marL="457200" rtl="0" algn="l">
              <a:spcBef>
                <a:spcPts val="0"/>
              </a:spcBef>
              <a:spcAft>
                <a:spcPts val="0"/>
              </a:spcAft>
              <a:buSzPts val="1800"/>
              <a:buAutoNum type="arabicPeriod"/>
            </a:pPr>
            <a:r>
              <a:rPr lang="en"/>
              <a:t>An increase in the deterioration rate reduces the size of the trade-in incentive</a:t>
            </a:r>
            <a:endParaRPr/>
          </a:p>
          <a:p>
            <a:pPr indent="-342900" lvl="0" marL="457200" rtl="0" algn="l">
              <a:spcBef>
                <a:spcPts val="0"/>
              </a:spcBef>
              <a:spcAft>
                <a:spcPts val="0"/>
              </a:spcAft>
              <a:buSzPts val="1800"/>
              <a:buAutoNum type="arabicPeriod"/>
            </a:pPr>
            <a:r>
              <a:rPr lang="en"/>
              <a:t>The volume of used good trade for a make-model increases in its reliability</a:t>
            </a:r>
            <a:endParaRPr/>
          </a:p>
          <a:p>
            <a:pPr indent="-342900" lvl="0" marL="457200" rtl="0" algn="l">
              <a:spcBef>
                <a:spcPts val="0"/>
              </a:spcBef>
              <a:spcAft>
                <a:spcPts val="0"/>
              </a:spcAft>
              <a:buSzPts val="1800"/>
              <a:buAutoNum type="arabicPeriod"/>
            </a:pPr>
            <a:r>
              <a:rPr lang="en"/>
              <a:t>The volume of used good trade of a make-model increases with the deterioration rate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